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7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2" r:id="rId8"/>
    <p:sldId id="263" r:id="rId9"/>
    <p:sldId id="264" r:id="rId10"/>
    <p:sldId id="266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2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87055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7387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4792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42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671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75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324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8687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888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767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045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01F0E23C-E03C-4D10-AB12-92DDDE6BAB9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192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8" r:id="rId1"/>
    <p:sldLayoutId id="2147483849" r:id="rId2"/>
    <p:sldLayoutId id="2147483850" r:id="rId3"/>
    <p:sldLayoutId id="2147483851" r:id="rId4"/>
    <p:sldLayoutId id="2147483852" r:id="rId5"/>
    <p:sldLayoutId id="2147483853" r:id="rId6"/>
    <p:sldLayoutId id="2147483854" r:id="rId7"/>
    <p:sldLayoutId id="2147483855" r:id="rId8"/>
    <p:sldLayoutId id="2147483856" r:id="rId9"/>
    <p:sldLayoutId id="2147483857" r:id="rId10"/>
    <p:sldLayoutId id="2147483858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package" Target="../embeddings/Microsoft_Word_Document.docx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8.emf"/><Relationship Id="rId4" Type="http://schemas.openxmlformats.org/officeDocument/2006/relationships/package" Target="../embeddings/Microsoft_Word_Document1.docx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1Artboard 3 copy 34edsw.pdf">
            <a:extLst>
              <a:ext uri="{FF2B5EF4-FFF2-40B4-BE49-F238E27FC236}">
                <a16:creationId xmlns:a16="http://schemas.microsoft.com/office/drawing/2014/main" id="{7A8B6993-CF17-A101-E37D-0AE0211A16F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7" t="37299" r="51849" b="14438"/>
          <a:stretch/>
        </p:blipFill>
        <p:spPr>
          <a:xfrm>
            <a:off x="3758638" y="0"/>
            <a:ext cx="843336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DB4E1B-A995-4187-CA8D-719EA7EA5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2873" y="782782"/>
            <a:ext cx="9008254" cy="3410475"/>
          </a:xfrm>
        </p:spPr>
        <p:txBody>
          <a:bodyPr anchor="ctr">
            <a:normAutofit/>
          </a:bodyPr>
          <a:lstStyle/>
          <a:p>
            <a:r>
              <a:rPr lang="en-IN" sz="6000" dirty="0"/>
              <a:t>E-Commerce Case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19FDCF-2D27-2E3B-909C-F04B5F91B3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2873" y="4644313"/>
            <a:ext cx="8956962" cy="1126283"/>
          </a:xfrm>
          <a:solidFill>
            <a:schemeClr val="bg1">
              <a:lumMod val="75000"/>
              <a:lumOff val="25000"/>
            </a:schemeClr>
          </a:solidFill>
        </p:spPr>
        <p:txBody>
          <a:bodyPr anchor="ctr">
            <a:normAutofit fontScale="92500" lnSpcReduction="20000"/>
          </a:bodyPr>
          <a:lstStyle/>
          <a:p>
            <a:r>
              <a:rPr lang="en-IN" dirty="0"/>
              <a:t>Created and Presented by</a:t>
            </a:r>
          </a:p>
          <a:p>
            <a:r>
              <a:rPr lang="en-IN" dirty="0"/>
              <a:t>Name: Rishi Pratap Yadav</a:t>
            </a:r>
          </a:p>
          <a:p>
            <a:r>
              <a:rPr lang="en-IN" dirty="0"/>
              <a:t>Emp Id: 3145887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5957122-EDC4-DBA6-C85E-4E9092A190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6635" y="5371200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998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1Artboard 3 copy 34edsw.pdf">
            <a:extLst>
              <a:ext uri="{FF2B5EF4-FFF2-40B4-BE49-F238E27FC236}">
                <a16:creationId xmlns:a16="http://schemas.microsoft.com/office/drawing/2014/main" id="{040291ED-F78F-1F08-3EA7-DE5C41BC54C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7" t="37299" r="51849" b="14438"/>
          <a:stretch/>
        </p:blipFill>
        <p:spPr>
          <a:xfrm>
            <a:off x="3758638" y="0"/>
            <a:ext cx="843336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EA8032-5585-7B02-70F8-B92A15DA6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6213F-9C90-5720-227C-A1C022905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We have designed a </a:t>
            </a:r>
            <a:r>
              <a:rPr lang="en-IN" b="1" dirty="0"/>
              <a:t>scalable and reliable e-commerce system</a:t>
            </a:r>
            <a:r>
              <a:rPr lang="en-IN" dirty="0"/>
              <a:t> that ensures smooth customer journeys from browsing to checkout. The platform is built in a </a:t>
            </a:r>
            <a:r>
              <a:rPr lang="en-IN" b="1" dirty="0"/>
              <a:t>modular way</a:t>
            </a:r>
            <a:r>
              <a:rPr lang="en-IN" dirty="0"/>
              <a:t>, where key business functions such as products, orders, payments, inventory, and customer communication work independently while remaining fully integrated.</a:t>
            </a:r>
          </a:p>
          <a:p>
            <a:r>
              <a:rPr lang="en-IN" dirty="0"/>
              <a:t>Overall, the architecture provides a </a:t>
            </a:r>
            <a:r>
              <a:rPr lang="en-IN" b="1" dirty="0"/>
              <a:t>secure, high-performance foundation</a:t>
            </a:r>
            <a:r>
              <a:rPr lang="en-IN" dirty="0"/>
              <a:t> that supports business expansion, operational efficiency, and a consistent customer experience.</a:t>
            </a:r>
          </a:p>
          <a:p>
            <a:endParaRPr lang="en-IN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10978F5-751C-3F92-E8A0-EB3B04981B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6635" y="5371200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654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1Artboard 3 copy 34edsw.pdf">
            <a:extLst>
              <a:ext uri="{FF2B5EF4-FFF2-40B4-BE49-F238E27FC236}">
                <a16:creationId xmlns:a16="http://schemas.microsoft.com/office/drawing/2014/main" id="{E4CBAD25-598C-4B65-5CDD-78B28F483A2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7" t="37299" r="51849" b="14438"/>
          <a:stretch/>
        </p:blipFill>
        <p:spPr>
          <a:xfrm>
            <a:off x="3758638" y="0"/>
            <a:ext cx="843336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2F2CD5-C757-0B28-55A3-BA74B5E9E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Functional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B4033-DCA3-1407-0A30-59556E635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sign up, login and logout.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Products list should be visible on the page.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search product by name and category.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filter products.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add, update, remove products from the cart.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place order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Notify user about order placed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should be able to make payment for the product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Inventory must be updated after purchase.</a:t>
            </a:r>
          </a:p>
          <a:p>
            <a:endParaRPr lang="en-IN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A17DB20-EE43-7BC4-E562-69CDE4F438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6635" y="5371200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91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AB4E-08F0-74C5-93B7-7A30303E7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Non Functional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35229-4B7D-D30A-942F-D0F2F68BE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/>
              <a:t>System should be auto scalable for peak events.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Availability up to 99.99%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Fault Tolerance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Strong consistency for Inventory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Graceful Degradation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Low Latency(Page load p95: &lt;2.5sec, API Response : 200ms-300ms, Search -300ms – 500ms)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Ability to handle thousands of concurrent requests</a:t>
            </a:r>
          </a:p>
          <a:p>
            <a:endParaRPr lang="en-IN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375B7B-C818-0CB4-0669-24A5C83BD5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06635" y="5371200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6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8C9EE-E95F-4CD7-5B10-401398E0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4549F-3F66-18A8-CA77-87432D063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IN" dirty="0"/>
              <a:t>Mostly browsing/search traffic(80%), checkout traffic(20%).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We will have responsive website shown on desktop and mobile.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Mobile application is not asked by client.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The system meets </a:t>
            </a:r>
            <a:r>
              <a:rPr lang="en-IN" b="1" dirty="0"/>
              <a:t>regulatory, privacy, and audit requirements</a:t>
            </a:r>
            <a:r>
              <a:rPr lang="en-IN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Third party integration with Payment gateway and Logistics.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274C8EC-898F-BC28-858B-77D70ABDBD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06635" y="5371200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670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1Artboard 3 copy 34edsw.pdf">
            <a:extLst>
              <a:ext uri="{FF2B5EF4-FFF2-40B4-BE49-F238E27FC236}">
                <a16:creationId xmlns:a16="http://schemas.microsoft.com/office/drawing/2014/main" id="{06C0FA47-C2B3-EB61-5C90-43691DE3F5B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7" t="37299" r="51849" b="14438"/>
          <a:stretch/>
        </p:blipFill>
        <p:spPr>
          <a:xfrm>
            <a:off x="3758638" y="10886"/>
            <a:ext cx="843336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8B6A8-CBD4-7566-7D54-88B1EEF61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Feedback from Interim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E20D9-71F3-A9E0-17AA-61C8D2A44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Show each DB per service</a:t>
            </a:r>
          </a:p>
          <a:p>
            <a:r>
              <a:rPr lang="en-IN" dirty="0"/>
              <a:t>Show cross cutting concerns in HLD</a:t>
            </a:r>
          </a:p>
          <a:p>
            <a:r>
              <a:rPr lang="en-IN" dirty="0"/>
              <a:t>Improve icons or colour coding for different components</a:t>
            </a:r>
          </a:p>
          <a:p>
            <a:r>
              <a:rPr lang="en-IN" dirty="0"/>
              <a:t>Show where product images and invoices would be stored.</a:t>
            </a:r>
          </a:p>
          <a:p>
            <a:endParaRPr lang="en-IN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3A4ACD-8AC9-D319-9CB0-E180645E02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6635" y="5371200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15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D8B7C-C2C6-3188-7B8A-4A0654FFA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703" y="2672176"/>
            <a:ext cx="3693305" cy="6588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HLD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7C50FB-DD90-7214-5A38-2F8F9A95FF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4664" y="-36429"/>
            <a:ext cx="7907336" cy="689442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8D8BFF9-7A47-B5A5-506A-099B8E3C75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921" y="-126086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907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EE89-F871-A4C5-0E9D-35FB791E7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238" y="2302062"/>
            <a:ext cx="3693305" cy="132288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Deployment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B0273D-1F00-4FD3-F6B6-2B5F109882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80" r="-2" b="11122"/>
          <a:stretch>
            <a:fillRect/>
          </a:stretch>
        </p:blipFill>
        <p:spPr>
          <a:xfrm>
            <a:off x="4617490" y="1"/>
            <a:ext cx="7574510" cy="6858000"/>
          </a:xfrm>
          <a:prstGeom prst="rect">
            <a:avLst/>
          </a:prstGeom>
          <a:effectLst>
            <a:outerShdw blurRad="254000" dist="190500" dir="5580000" sx="90000" sy="90000" algn="ctr" rotWithShape="0">
              <a:srgbClr val="000000">
                <a:alpha val="25000"/>
              </a:srgbClr>
            </a:outerShdw>
          </a:effectLst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C8AA37C-1BFA-DE8E-E3B1-57951782D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921" y="-126086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0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FA5AB-B9F0-33CD-D168-F98A7C3C3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708" y="2073662"/>
            <a:ext cx="3221377" cy="12791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Frontend CI/CD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D8968E-653E-CD7E-AFA0-0EF4FE6F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9910"/>
          <a:stretch>
            <a:fillRect/>
          </a:stretch>
        </p:blipFill>
        <p:spPr>
          <a:xfrm>
            <a:off x="4617490" y="1"/>
            <a:ext cx="7574510" cy="6858000"/>
          </a:xfrm>
          <a:prstGeom prst="rect">
            <a:avLst/>
          </a:prstGeom>
          <a:effectLst>
            <a:outerShdw blurRad="254000" dist="190500" dir="5580000" sx="90000" sy="90000" algn="ctr" rotWithShape="0">
              <a:srgbClr val="000000">
                <a:alpha val="25000"/>
              </a:srgbClr>
            </a:outerShdw>
          </a:effectLst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5CD8965D-8D7C-834D-09C9-E8531E92C9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921" y="-126086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767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5A087C-E877-20DC-311D-C848D0344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BCFBBF-0291-A60C-B404-1A08B1A4D3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22" b="11183"/>
          <a:stretch>
            <a:fillRect/>
          </a:stretch>
        </p:blipFill>
        <p:spPr>
          <a:xfrm>
            <a:off x="20" y="10"/>
            <a:ext cx="12191979" cy="5486390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A4572F-AAEA-0CAF-BE37-2D981704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56" y="5746071"/>
            <a:ext cx="7015499" cy="8522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/>
              <a:t>Backend CI/CD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3031BA-3BB5-5A9A-DE11-0162B99356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6750" y="5428801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524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BBE4D-D351-2AF6-749C-43949A40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D2485C-263A-03CF-9B5E-7D13A1B5C7D8}"/>
              </a:ext>
            </a:extLst>
          </p:cNvPr>
          <p:cNvSpPr txBox="1"/>
          <p:nvPr/>
        </p:nvSpPr>
        <p:spPr>
          <a:xfrm>
            <a:off x="2231136" y="2292620"/>
            <a:ext cx="7729728" cy="32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softEdge rad="0"/>
          </a:effectLst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Failover Strategy – DAR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DR strategy – DAR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A5E0A1CF-20C1-3287-BE5D-2230AB281D5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67641186"/>
              </p:ext>
            </p:extLst>
          </p:nvPr>
        </p:nvGraphicFramePr>
        <p:xfrm>
          <a:off x="4811486" y="3245663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2" imgW="914597" imgH="806311" progId="Word.Document.12">
                  <p:embed/>
                </p:oleObj>
              </mc:Choice>
              <mc:Fallback>
                <p:oleObj name="Document" showAsIcon="1" r:id="rId2" imgW="914597" imgH="80631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811486" y="3245663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91243CAF-C3A5-7CA9-1D21-2C856177D69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92365930"/>
              </p:ext>
            </p:extLst>
          </p:nvPr>
        </p:nvGraphicFramePr>
        <p:xfrm>
          <a:off x="4974773" y="2363333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4" imgW="914597" imgH="806311" progId="Word.Document.12">
                  <p:embed/>
                </p:oleObj>
              </mc:Choice>
              <mc:Fallback>
                <p:oleObj name="Document" showAsIcon="1" r:id="rId4" imgW="914597" imgH="80631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74773" y="2363333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Graphic 7">
            <a:extLst>
              <a:ext uri="{FF2B5EF4-FFF2-40B4-BE49-F238E27FC236}">
                <a16:creationId xmlns:a16="http://schemas.microsoft.com/office/drawing/2014/main" id="{363F954E-DB77-C578-F8C1-385F000CB7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76750" y="5428801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194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1Artboard 3 copy 34edsw.pdf">
            <a:extLst>
              <a:ext uri="{FF2B5EF4-FFF2-40B4-BE49-F238E27FC236}">
                <a16:creationId xmlns:a16="http://schemas.microsoft.com/office/drawing/2014/main" id="{38860263-5F45-B99A-5BF0-115C290B57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7" t="37299" r="51849" b="14438"/>
          <a:stretch/>
        </p:blipFill>
        <p:spPr>
          <a:xfrm>
            <a:off x="3758638" y="0"/>
            <a:ext cx="843336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E792FC-1BFD-9B0E-13D1-2BF6D0556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56035"/>
            <a:ext cx="7729728" cy="1188720"/>
          </a:xfrm>
        </p:spPr>
        <p:txBody>
          <a:bodyPr/>
          <a:lstStyle/>
          <a:p>
            <a:r>
              <a:rPr lang="en-IN" dirty="0"/>
              <a:t>Demo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C165FF-F095-D1F8-A357-E663973C18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6750" y="5428801"/>
            <a:ext cx="1982400" cy="14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526370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17229</TotalTime>
  <Words>325</Words>
  <Application>Microsoft Office PowerPoint</Application>
  <PresentationFormat>Widescreen</PresentationFormat>
  <Paragraphs>47</Paragraphs>
  <Slides>12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Gill Sans MT</vt:lpstr>
      <vt:lpstr>Parcel</vt:lpstr>
      <vt:lpstr>Microsoft Word Document</vt:lpstr>
      <vt:lpstr>E-Commerce Case Study</vt:lpstr>
      <vt:lpstr>Summary</vt:lpstr>
      <vt:lpstr>Functional Requirement</vt:lpstr>
      <vt:lpstr>Non Functional Requirement</vt:lpstr>
      <vt:lpstr>Assumptions</vt:lpstr>
      <vt:lpstr>Feedback from Interim Demo</vt:lpstr>
      <vt:lpstr>HLD</vt:lpstr>
      <vt:lpstr>Deployment Diagram</vt:lpstr>
      <vt:lpstr>Frontend CI/CD</vt:lpstr>
      <vt:lpstr>Backend CI/CD</vt:lpstr>
      <vt:lpstr>DAR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Rishi Yadav</dc:creator>
  <cp:lastModifiedBy>Rishi Yadav</cp:lastModifiedBy>
  <cp:revision>25</cp:revision>
  <dcterms:created xsi:type="dcterms:W3CDTF">2026-01-15T14:31:19Z</dcterms:created>
  <dcterms:modified xsi:type="dcterms:W3CDTF">2026-04-07T06:15:33Z</dcterms:modified>
</cp:coreProperties>
</file>